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2"/>
    <p:restoredTop sz="94248"/>
  </p:normalViewPr>
  <p:slideViewPr>
    <p:cSldViewPr snapToGrid="0">
      <p:cViewPr varScale="1">
        <p:scale>
          <a:sx n="33" d="100"/>
          <a:sy n="33" d="100"/>
        </p:scale>
        <p:origin x="8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32C23-8B5C-2D47-8B2D-0EFFBEAE2B7B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6711F-A52F-0E4A-9676-13692254D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2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6711F-A52F-0E4A-9676-13692254D4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93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73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3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5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15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1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8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0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0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59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3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B071B-C410-304C-8EA8-A3C803F596A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21079-72AA-7F41-A1FE-1791FEBA1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0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3155-0E36-468F-F6B8-2D676FCD3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938" y="215874"/>
            <a:ext cx="17789743" cy="3438819"/>
          </a:xfrm>
          <a:solidFill>
            <a:srgbClr val="156082"/>
          </a:solidFill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Detecting Racism in Football Commentary: A Hybrid NLP Approach</a:t>
            </a:r>
            <a:br>
              <a:rPr lang="en-US" sz="60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A Hybrid NLP Approach Comparing BERT and </a:t>
            </a:r>
            <a:r>
              <a:rPr lang="en-US" sz="3200" b="1" dirty="0" err="1">
                <a:solidFill>
                  <a:schemeClr val="bg1"/>
                </a:solidFill>
              </a:rPr>
              <a:t>RoBERTa</a:t>
            </a:r>
            <a:r>
              <a:rPr lang="en-US" sz="3200" b="1" dirty="0">
                <a:solidFill>
                  <a:schemeClr val="bg1"/>
                </a:solidFill>
              </a:rPr>
              <a:t> Models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Sneha Mondal,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 Advisor: Dr. Ashique </a:t>
            </a:r>
            <a:r>
              <a:rPr lang="en-US" sz="3200" b="1" dirty="0" err="1">
                <a:solidFill>
                  <a:schemeClr val="bg1"/>
                </a:solidFill>
              </a:rPr>
              <a:t>Khudabukhsh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Rochester Institute of Technology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82F9D-1D93-4A5E-A521-A22B12DFF19A}"/>
              </a:ext>
            </a:extLst>
          </p:cNvPr>
          <p:cNvSpPr txBox="1"/>
          <p:nvPr/>
        </p:nvSpPr>
        <p:spPr>
          <a:xfrm>
            <a:off x="180106" y="3842256"/>
            <a:ext cx="6483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32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Background &amp; Motivation</a:t>
            </a:r>
            <a:endParaRPr lang="en-US" sz="3200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6736E9-4CD4-F6D1-CDBD-A18F7FC26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287935"/>
              </p:ext>
            </p:extLst>
          </p:nvPr>
        </p:nvGraphicFramePr>
        <p:xfrm>
          <a:off x="6871856" y="4524878"/>
          <a:ext cx="10557163" cy="742880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826196">
                  <a:extLst>
                    <a:ext uri="{9D8B030D-6E8A-4147-A177-3AD203B41FA5}">
                      <a16:colId xmlns:a16="http://schemas.microsoft.com/office/drawing/2014/main" val="2872565675"/>
                    </a:ext>
                  </a:extLst>
                </a:gridCol>
                <a:gridCol w="2772493">
                  <a:extLst>
                    <a:ext uri="{9D8B030D-6E8A-4147-A177-3AD203B41FA5}">
                      <a16:colId xmlns:a16="http://schemas.microsoft.com/office/drawing/2014/main" val="1874910454"/>
                    </a:ext>
                  </a:extLst>
                </a:gridCol>
                <a:gridCol w="2772493">
                  <a:extLst>
                    <a:ext uri="{9D8B030D-6E8A-4147-A177-3AD203B41FA5}">
                      <a16:colId xmlns:a16="http://schemas.microsoft.com/office/drawing/2014/main" val="2430759242"/>
                    </a:ext>
                  </a:extLst>
                </a:gridCol>
                <a:gridCol w="2185981">
                  <a:extLst>
                    <a:ext uri="{9D8B030D-6E8A-4147-A177-3AD203B41FA5}">
                      <a16:colId xmlns:a16="http://schemas.microsoft.com/office/drawing/2014/main" val="2008178011"/>
                    </a:ext>
                  </a:extLst>
                </a:gridCol>
              </a:tblGrid>
              <a:tr h="373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Component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Count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Notes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Source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411178"/>
                  </a:ext>
                </a:extLst>
              </a:tr>
              <a:tr h="1236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Base corpus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66.1 % non-racist, 33.9 % racist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Manual labeling:</a:t>
                      </a:r>
                      <a:br>
                        <a:rPr lang="en-US" sz="2000" dirty="0"/>
                      </a:br>
                      <a:r>
                        <a:rPr lang="en-US" sz="2000" dirty="0" err="1"/>
                        <a:t>Youtube</a:t>
                      </a:r>
                      <a:r>
                        <a:rPr lang="en-US" sz="2000" dirty="0"/>
                        <a:t>, Reddit, Twitter, News Articles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714782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Implicit-racism templates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Template-based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Synthetic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3420390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Explicit-slur templates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“monkey,” “jungle,”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Synthetic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566034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Benign animal 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Non-racist animal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Synthetic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611341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Media-critique templates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Non-racist sports-media criticism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Synthetic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986385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Class balancing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1 :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Undersampled to 375 vs. 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Resampling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995366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Class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1 : 2 (non-racist : racist)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Applied in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Training config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584952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Final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1,031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Enhanced 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Combined above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519673"/>
                  </a:ext>
                </a:extLst>
              </a:tr>
              <a:tr h="715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Splits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80 / 20 + test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Train/</a:t>
                      </a:r>
                      <a:r>
                        <a:rPr lang="en-US" sz="2000" dirty="0" err="1"/>
                        <a:t>val</a:t>
                      </a:r>
                      <a:r>
                        <a:rPr lang="en-US" sz="2000" dirty="0"/>
                        <a:t> + challenging edge-case test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Data split cod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05508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71D528-37A4-52F4-051B-828222030E98}"/>
              </a:ext>
            </a:extLst>
          </p:cNvPr>
          <p:cNvSpPr txBox="1"/>
          <p:nvPr/>
        </p:nvSpPr>
        <p:spPr>
          <a:xfrm>
            <a:off x="6871856" y="3735724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0AC16-9CE6-3EE2-C1DF-C215B9796386}"/>
              </a:ext>
            </a:extLst>
          </p:cNvPr>
          <p:cNvSpPr txBox="1"/>
          <p:nvPr/>
        </p:nvSpPr>
        <p:spPr>
          <a:xfrm>
            <a:off x="17955491" y="3812794"/>
            <a:ext cx="6622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3:Modeling , Timeline and Methods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D86F352-F1FF-4722-1FED-8311152A7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31316"/>
              </p:ext>
            </p:extLst>
          </p:nvPr>
        </p:nvGraphicFramePr>
        <p:xfrm>
          <a:off x="17955491" y="4559631"/>
          <a:ext cx="6622472" cy="4488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618">
                  <a:extLst>
                    <a:ext uri="{9D8B030D-6E8A-4147-A177-3AD203B41FA5}">
                      <a16:colId xmlns:a16="http://schemas.microsoft.com/office/drawing/2014/main" val="3708352262"/>
                    </a:ext>
                  </a:extLst>
                </a:gridCol>
                <a:gridCol w="1655618">
                  <a:extLst>
                    <a:ext uri="{9D8B030D-6E8A-4147-A177-3AD203B41FA5}">
                      <a16:colId xmlns:a16="http://schemas.microsoft.com/office/drawing/2014/main" val="398168497"/>
                    </a:ext>
                  </a:extLst>
                </a:gridCol>
                <a:gridCol w="1655618">
                  <a:extLst>
                    <a:ext uri="{9D8B030D-6E8A-4147-A177-3AD203B41FA5}">
                      <a16:colId xmlns:a16="http://schemas.microsoft.com/office/drawing/2014/main" val="552664684"/>
                    </a:ext>
                  </a:extLst>
                </a:gridCol>
                <a:gridCol w="1655618">
                  <a:extLst>
                    <a:ext uri="{9D8B030D-6E8A-4147-A177-3AD203B41FA5}">
                      <a16:colId xmlns:a16="http://schemas.microsoft.com/office/drawing/2014/main" val="2568909255"/>
                    </a:ext>
                  </a:extLst>
                </a:gridCol>
              </a:tblGrid>
              <a:tr h="725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Stage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Model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Key Tweak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F1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359372"/>
                  </a:ext>
                </a:extLst>
              </a:tr>
              <a:tr h="75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0.72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293160"/>
                  </a:ext>
                </a:extLst>
              </a:tr>
              <a:tr h="75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RoBERTa trial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Similar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0.61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83545"/>
                  </a:ext>
                </a:extLst>
              </a:tr>
              <a:tr h="75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Optimized 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Fine-tuned params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0.76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85514"/>
                  </a:ext>
                </a:extLst>
              </a:tr>
              <a:tr h="75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SVM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On BERT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0.68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042372"/>
                  </a:ext>
                </a:extLst>
              </a:tr>
              <a:tr h="752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Final 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With rule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0.76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5561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1DCA746-FE26-4211-280E-409B844EFDAA}"/>
              </a:ext>
            </a:extLst>
          </p:cNvPr>
          <p:cNvSpPr txBox="1"/>
          <p:nvPr/>
        </p:nvSpPr>
        <p:spPr>
          <a:xfrm>
            <a:off x="17852738" y="9205343"/>
            <a:ext cx="1345045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800" b="1" dirty="0"/>
              <a:t> Preprocessing </a:t>
            </a:r>
          </a:p>
          <a:p>
            <a:pPr algn="just">
              <a:buNone/>
            </a:pPr>
            <a:r>
              <a:rPr lang="en-US" sz="2800" b="1" dirty="0"/>
              <a:t> </a:t>
            </a:r>
            <a:r>
              <a:rPr lang="en-US" sz="2400" b="1" dirty="0"/>
              <a:t>Tokenization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BERT-base-uncased &amp; </a:t>
            </a:r>
            <a:r>
              <a:rPr lang="en-US" sz="2400" dirty="0" err="1"/>
              <a:t>RoBERTa</a:t>
            </a:r>
            <a:r>
              <a:rPr lang="en-US" sz="2400" dirty="0"/>
              <a:t>-base standard tokenizers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Feature flags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slur_list</a:t>
            </a:r>
            <a:r>
              <a:rPr lang="en-US" sz="2400" dirty="0"/>
              <a:t>: explicit slur/animal terms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implicit_indicators</a:t>
            </a:r>
            <a:r>
              <a:rPr lang="en-US" sz="2400" dirty="0"/>
              <a:t>: 60+ coded-language phrases (e.g. “football IQ,” “surprisingly articulate”)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football_exemption</a:t>
            </a:r>
            <a:r>
              <a:rPr lang="en-US" sz="2400" dirty="0"/>
              <a:t>: football-analysis keywords (e.g. “tactic,” “possession”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Rule-override logic</a:t>
            </a:r>
            <a:endParaRPr lang="en-US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If model confidence &lt; 0.75 </a:t>
            </a:r>
            <a:r>
              <a:rPr lang="en-US" sz="2400" b="1" dirty="0"/>
              <a:t>and</a:t>
            </a:r>
            <a:r>
              <a:rPr lang="en-US" sz="2400" dirty="0"/>
              <a:t> only “</a:t>
            </a:r>
            <a:r>
              <a:rPr lang="en-US" sz="2400" dirty="0" err="1"/>
              <a:t>football_exemption</a:t>
            </a:r>
            <a:r>
              <a:rPr lang="en-US" sz="2400" dirty="0"/>
              <a:t>” tokens present → force “non-racist”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C97AF4-63CE-9667-D38E-CBD0E7F26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278427"/>
              </p:ext>
            </p:extLst>
          </p:nvPr>
        </p:nvGraphicFramePr>
        <p:xfrm>
          <a:off x="24796785" y="4506955"/>
          <a:ext cx="7562815" cy="455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759">
                  <a:extLst>
                    <a:ext uri="{9D8B030D-6E8A-4147-A177-3AD203B41FA5}">
                      <a16:colId xmlns:a16="http://schemas.microsoft.com/office/drawing/2014/main" val="3569190259"/>
                    </a:ext>
                  </a:extLst>
                </a:gridCol>
                <a:gridCol w="2393759">
                  <a:extLst>
                    <a:ext uri="{9D8B030D-6E8A-4147-A177-3AD203B41FA5}">
                      <a16:colId xmlns:a16="http://schemas.microsoft.com/office/drawing/2014/main" val="35165107"/>
                    </a:ext>
                  </a:extLst>
                </a:gridCol>
                <a:gridCol w="2775297">
                  <a:extLst>
                    <a:ext uri="{9D8B030D-6E8A-4147-A177-3AD203B41FA5}">
                      <a16:colId xmlns:a16="http://schemas.microsoft.com/office/drawing/2014/main" val="3902974592"/>
                    </a:ext>
                  </a:extLst>
                </a:gridCol>
              </a:tblGrid>
              <a:tr h="810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Step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Model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Key settings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584476"/>
                  </a:ext>
                </a:extLst>
              </a:tr>
              <a:tr h="836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BERT finetuned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class weights [1.0,2.0], threshold sweep → 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577542"/>
                  </a:ext>
                </a:extLst>
              </a:tr>
              <a:tr h="924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RoBERTa</a:t>
                      </a:r>
                      <a:r>
                        <a:rPr lang="en-US" sz="2000" dirty="0"/>
                        <a:t> finetuned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lr=3e-5, weight_decay=0.01, 3 epochs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515501"/>
                  </a:ext>
                </a:extLst>
              </a:tr>
              <a:tr h="1017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linear kernel on pooled BERT-[CLS] embeddings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580190"/>
                  </a:ext>
                </a:extLst>
              </a:tr>
              <a:tr h="889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Hybrid ensemble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rule-override + majority vote (BERT &amp; SVM)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85731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AD9C958-8306-EB20-B513-315AAD3EBC96}"/>
              </a:ext>
            </a:extLst>
          </p:cNvPr>
          <p:cNvSpPr txBox="1"/>
          <p:nvPr/>
        </p:nvSpPr>
        <p:spPr>
          <a:xfrm>
            <a:off x="228602" y="4523438"/>
            <a:ext cx="6483928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Problem:</a:t>
            </a:r>
            <a:r>
              <a:rPr lang="en-US" sz="2400" dirty="0"/>
              <a:t> Football commentary often contains subtle (implicit) racism that generic toxic-speech detectors miss.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Goal:</a:t>
            </a:r>
            <a:r>
              <a:rPr lang="en-US" sz="2400" dirty="0"/>
              <a:t> Flag both explicit slurs (e.g. “monkey,” “jungle”) and coded language (e.g. “lack tactical IQ,” “surprisingly articulate for his background”).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Challenges: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Wide pattern diversity (explicit vs implicit racism)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False positives in heated sports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Limited annotated data for implicit cases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Context-dependent meaning</a:t>
            </a:r>
          </a:p>
          <a:p>
            <a:pPr algn="just">
              <a:buNone/>
            </a:pPr>
            <a:r>
              <a:rPr lang="en-US" sz="2400" b="1" dirty="0"/>
              <a:t>Approach</a:t>
            </a:r>
            <a:endParaRPr lang="en-US" sz="2400" dirty="0"/>
          </a:p>
          <a:p>
            <a:pPr algn="just">
              <a:buNone/>
            </a:pPr>
            <a:r>
              <a:rPr lang="en-US" sz="2400" dirty="0"/>
              <a:t>A hybrid system that layers: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Transformer classifier</a:t>
            </a:r>
            <a:r>
              <a:rPr lang="en-US" sz="2400" dirty="0"/>
              <a:t> (BERT-SVM ensemble) for broad coverage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Rule-based heuristics</a:t>
            </a:r>
            <a:r>
              <a:rPr lang="en-US" sz="2400" dirty="0"/>
              <a:t> to catch known slurs and football-analysis “exemptions”</a:t>
            </a:r>
          </a:p>
          <a:p>
            <a:pPr algn="just">
              <a:buFont typeface="+mj-lt"/>
              <a:buAutoNum type="arabicPeriod"/>
            </a:pPr>
            <a:r>
              <a:rPr lang="en-US" sz="2400" b="1" dirty="0"/>
              <a:t>Pattern detectors</a:t>
            </a:r>
            <a:r>
              <a:rPr lang="en-US" sz="2400" dirty="0"/>
              <a:t> for implicit cues (e.g. “IQ,” “natural athleticism,” “white guilt”)</a:t>
            </a:r>
          </a:p>
        </p:txBody>
      </p:sp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56089EBF-11D0-D4D6-322B-80318F0A4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3403" y="12607863"/>
            <a:ext cx="5698478" cy="41766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4C0ECA-FCAF-600E-F89C-7A72241FFB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565" t="7439" r="12523"/>
          <a:stretch/>
        </p:blipFill>
        <p:spPr>
          <a:xfrm>
            <a:off x="6871855" y="12454600"/>
            <a:ext cx="5121921" cy="43298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06FA502-D379-8353-FE49-477156D311C1}"/>
              </a:ext>
            </a:extLst>
          </p:cNvPr>
          <p:cNvSpPr txBox="1"/>
          <p:nvPr/>
        </p:nvSpPr>
        <p:spPr>
          <a:xfrm>
            <a:off x="228602" y="17094703"/>
            <a:ext cx="59297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Key Results on Held-Out Test</a:t>
            </a:r>
          </a:p>
          <a:p>
            <a:endParaRPr lang="en-US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DC07B70-22B9-A4CF-FC27-939AB03F9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478692"/>
              </p:ext>
            </p:extLst>
          </p:nvPr>
        </p:nvGraphicFramePr>
        <p:xfrm>
          <a:off x="422556" y="17872349"/>
          <a:ext cx="5999028" cy="3257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514">
                  <a:extLst>
                    <a:ext uri="{9D8B030D-6E8A-4147-A177-3AD203B41FA5}">
                      <a16:colId xmlns:a16="http://schemas.microsoft.com/office/drawing/2014/main" val="2958450519"/>
                    </a:ext>
                  </a:extLst>
                </a:gridCol>
                <a:gridCol w="2999514">
                  <a:extLst>
                    <a:ext uri="{9D8B030D-6E8A-4147-A177-3AD203B41FA5}">
                      <a16:colId xmlns:a16="http://schemas.microsoft.com/office/drawing/2014/main" val="3823529876"/>
                    </a:ext>
                  </a:extLst>
                </a:gridCol>
              </a:tblGrid>
              <a:tr h="577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Metric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Value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951172"/>
                  </a:ext>
                </a:extLst>
              </a:tr>
              <a:tr h="589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Overall accuracy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75.2%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003672"/>
                  </a:ext>
                </a:extLst>
              </a:tr>
              <a:tr h="911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Racist-class F₁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0.68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254240"/>
                  </a:ext>
                </a:extLst>
              </a:tr>
              <a:tr h="589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Precision (racist)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62.3%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492535"/>
                  </a:ext>
                </a:extLst>
              </a:tr>
              <a:tr h="589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Recall (racist)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76.0%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9932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67B9D19-7837-900C-9141-DA47AAD97B77}"/>
              </a:ext>
            </a:extLst>
          </p:cNvPr>
          <p:cNvSpPr txBox="1"/>
          <p:nvPr/>
        </p:nvSpPr>
        <p:spPr>
          <a:xfrm>
            <a:off x="7310941" y="16989230"/>
            <a:ext cx="4682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accent1">
                    <a:lumMod val="50000"/>
                  </a:schemeClr>
                </a:solidFill>
              </a:rPr>
              <a:t>5. Error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6A7CAA-7ADA-1E74-0C62-6CE0E09A3F11}"/>
              </a:ext>
            </a:extLst>
          </p:cNvPr>
          <p:cNvSpPr txBox="1"/>
          <p:nvPr/>
        </p:nvSpPr>
        <p:spPr>
          <a:xfrm>
            <a:off x="7241308" y="17772181"/>
            <a:ext cx="101877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400" b="1" dirty="0"/>
              <a:t>False positives (non-racist flagged as racist): 16.3%</a:t>
            </a:r>
            <a:endParaRPr lang="en-US" sz="2400" dirty="0"/>
          </a:p>
          <a:p>
            <a:pPr algn="just">
              <a:buNone/>
            </a:pPr>
            <a:r>
              <a:rPr lang="en-US" sz="2400" dirty="0"/>
              <a:t>Comments discussing racism but not containing racist content themselves.</a:t>
            </a:r>
          </a:p>
          <a:p>
            <a:pPr algn="just">
              <a:buNone/>
            </a:pPr>
            <a:r>
              <a:rPr lang="en-US" sz="2400" b="1" dirty="0"/>
              <a:t>False negatives (racist missed): 8.5%</a:t>
            </a:r>
            <a:endParaRPr lang="en-US" sz="2400" dirty="0"/>
          </a:p>
          <a:p>
            <a:pPr algn="just">
              <a:buNone/>
            </a:pPr>
            <a:r>
              <a:rPr lang="en-US" sz="2400" dirty="0"/>
              <a:t>Subtle implicit racism using coded sports language.</a:t>
            </a:r>
          </a:p>
          <a:p>
            <a:pPr algn="just">
              <a:buNone/>
            </a:pPr>
            <a:r>
              <a:rPr lang="en-US" sz="2400" b="1" dirty="0"/>
              <a:t>Confidence calibration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Avg. confidence on incorrect predictions: </a:t>
            </a:r>
            <a:r>
              <a:rPr lang="en-US" sz="2400" b="1" dirty="0"/>
              <a:t>0.82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Avg. confidence on correct predictions: </a:t>
            </a:r>
            <a:r>
              <a:rPr lang="en-US" sz="2400" b="1" dirty="0"/>
              <a:t>0.69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→ indicates the model is overconfident on hard cases; next step: temperature scaling.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890EB7-DFC5-7A37-74DA-86FA3D612352}"/>
              </a:ext>
            </a:extLst>
          </p:cNvPr>
          <p:cNvSpPr txBox="1"/>
          <p:nvPr/>
        </p:nvSpPr>
        <p:spPr>
          <a:xfrm>
            <a:off x="17935864" y="13422573"/>
            <a:ext cx="56526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Conclusions &amp; Future Work</a:t>
            </a:r>
            <a:endParaRPr lang="en-US" sz="3200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US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C35BFA-8178-51B1-27B9-CDC178F9CB24}"/>
              </a:ext>
            </a:extLst>
          </p:cNvPr>
          <p:cNvSpPr txBox="1"/>
          <p:nvPr/>
        </p:nvSpPr>
        <p:spPr>
          <a:xfrm>
            <a:off x="17955491" y="14120452"/>
            <a:ext cx="1120370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Key Findings:</a:t>
            </a:r>
            <a:r>
              <a:rPr lang="en-US" sz="2400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BERT outperformed </a:t>
            </a:r>
            <a:r>
              <a:rPr lang="en-US" sz="2400" dirty="0" err="1"/>
              <a:t>RoBERTa</a:t>
            </a:r>
            <a:r>
              <a:rPr lang="en-US" sz="2400" dirty="0"/>
              <a:t> (F1: 0.72 vs 0.61) for racism detection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Optimized BERT system achieved 75.2% accuracy with balanced precision-recall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Rule-based system effectively reduced football-discussion false positives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Next Steps: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 confidence calibration (model shows overconfidence on errors)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Collect more implicit racism examples through active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Implement human review for 0.75-0.90 confidence predictions</a:t>
            </a:r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2C433-F41F-5EEC-11A4-56EFE8A4577B}"/>
              </a:ext>
            </a:extLst>
          </p:cNvPr>
          <p:cNvSpPr txBox="1"/>
          <p:nvPr/>
        </p:nvSpPr>
        <p:spPr>
          <a:xfrm>
            <a:off x="17935864" y="17258081"/>
            <a:ext cx="69411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7. References</a:t>
            </a:r>
          </a:p>
          <a:p>
            <a:endParaRPr lang="en-US" u="sng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658679-E0C9-7B9F-278E-F2F13FDF9D2D}"/>
              </a:ext>
            </a:extLst>
          </p:cNvPr>
          <p:cNvSpPr txBox="1"/>
          <p:nvPr/>
        </p:nvSpPr>
        <p:spPr>
          <a:xfrm>
            <a:off x="17935864" y="18055963"/>
            <a:ext cx="1258454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dirty="0"/>
              <a:t>Devlin, J. et al. (2019). “BERT: Pre-training of Deep Bidirectional Transformers for Language Understanding.”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Liu, Y. et al. (2019). “</a:t>
            </a:r>
            <a:r>
              <a:rPr lang="en-US" sz="2000" dirty="0" err="1"/>
              <a:t>RoBERTa</a:t>
            </a:r>
            <a:r>
              <a:rPr lang="en-US" sz="2000" dirty="0"/>
              <a:t>: A Robustly Optimized BERT Pretraining Approach.”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Davidson, T. et al. (2017). “Automated Hate Speech Detection and the Problem of Offensive Language.”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Kilvington, D. (2020). “The Virtual Stages of Hate: Using Goffman’s Work to </a:t>
            </a:r>
            <a:r>
              <a:rPr lang="en-US" sz="2000" dirty="0" err="1"/>
              <a:t>Conceptualise</a:t>
            </a:r>
            <a:r>
              <a:rPr lang="en-US" sz="2000" dirty="0"/>
              <a:t> the Motivations for Online Hate.”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Farrington, N. et al. (2020). “Race, Racism and Sports Journalism.”</a:t>
            </a:r>
          </a:p>
          <a:p>
            <a:endParaRPr lang="en-US" dirty="0"/>
          </a:p>
        </p:txBody>
      </p:sp>
      <p:pic>
        <p:nvPicPr>
          <p:cNvPr id="33" name="Picture 32" descr="A graph of a graph&#10;&#10;AI-generated content may be incorrect.">
            <a:extLst>
              <a:ext uri="{FF2B5EF4-FFF2-40B4-BE49-F238E27FC236}">
                <a16:creationId xmlns:a16="http://schemas.microsoft.com/office/drawing/2014/main" id="{A25ACCDF-3AAD-11FF-2461-79C76EDC47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122275"/>
            <a:ext cx="6470080" cy="4852560"/>
          </a:xfrm>
          <a:prstGeom prst="rect">
            <a:avLst/>
          </a:prstGeom>
        </p:spPr>
      </p:pic>
      <p:pic>
        <p:nvPicPr>
          <p:cNvPr id="35" name="Picture 34" descr="A logo with an orange paw print&#10;&#10;AI-generated content may be incorrect.">
            <a:extLst>
              <a:ext uri="{FF2B5EF4-FFF2-40B4-BE49-F238E27FC236}">
                <a16:creationId xmlns:a16="http://schemas.microsoft.com/office/drawing/2014/main" id="{7A8CEA86-D306-7283-01F5-605A1CBB48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64206" y="19501115"/>
            <a:ext cx="2501794" cy="2501794"/>
          </a:xfrm>
          <a:prstGeom prst="rect">
            <a:avLst/>
          </a:prstGeom>
        </p:spPr>
      </p:pic>
      <p:pic>
        <p:nvPicPr>
          <p:cNvPr id="60" name="Audio 59">
            <a:extLst>
              <a:ext uri="{FF2B5EF4-FFF2-40B4-BE49-F238E27FC236}">
                <a16:creationId xmlns:a16="http://schemas.microsoft.com/office/drawing/2014/main" id="{62F53D35-A7A8-21B5-9613-A676206E09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1953200" y="209804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6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220"/>
    </mc:Choice>
    <mc:Fallback xmlns="">
      <p:transition spd="slow" advTm="158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741</Words>
  <Application>Microsoft Office PowerPoint</Application>
  <PresentationFormat>Custom</PresentationFormat>
  <Paragraphs>140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Detecting Racism in Football Commentary: A Hybrid NLP Approach A Hybrid NLP Approach Comparing BERT and RoBERTa Models Sneha Mondal,  Advisor: Dr. Ashique Khudabukhsh Rochester Institute of Technology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Mondal</dc:creator>
  <cp:lastModifiedBy>Vaibhav Balasubramanian (RIT Student)</cp:lastModifiedBy>
  <cp:revision>10</cp:revision>
  <dcterms:created xsi:type="dcterms:W3CDTF">2025-04-29T13:23:46Z</dcterms:created>
  <dcterms:modified xsi:type="dcterms:W3CDTF">2025-04-29T20:53:29Z</dcterms:modified>
</cp:coreProperties>
</file>